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35"/>
    <p:restoredTop sz="94610"/>
  </p:normalViewPr>
  <p:slideViewPr>
    <p:cSldViewPr snapToGrid="0" snapToObjects="1">
      <p:cViewPr varScale="1">
        <p:scale>
          <a:sx n="205" d="100"/>
          <a:sy n="205" d="100"/>
        </p:scale>
        <p:origin x="1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419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8EECB-9275-7ACA-5D5D-2299E8EA2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7E557-F611-A839-6054-CD9DFD54F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8A4AD-FB65-98C5-DB60-809E004EC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C33F6-004D-5CC5-01EA-D5905E11D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00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1371600"/>
            <a:ext cx="2926080" cy="3200400"/>
          </a:xfrm>
          <a:prstGeom prst="triangle">
            <a:avLst/>
          </a:prstGeom>
          <a:solidFill>
            <a:srgbClr val="3D1F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2194560" cy="2743200"/>
          </a:xfrm>
          <a:prstGeom prst="triangle">
            <a:avLst/>
          </a:prstGeom>
          <a:solidFill>
            <a:srgbClr val="7A3A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Shape 2"/>
          <p:cNvSpPr/>
          <p:nvPr/>
        </p:nvSpPr>
        <p:spPr>
          <a:xfrm>
            <a:off x="6766560" y="2286000"/>
            <a:ext cx="1463040" cy="2286000"/>
          </a:xfrm>
          <a:prstGeom prst="triangle">
            <a:avLst/>
          </a:prstGeom>
          <a:solidFill>
            <a:srgbClr val="FF7B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16916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CNCF</a:t>
            </a: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Incubating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Volcano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8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Kubernetes done right for batch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  ·  Flink  ·  Trino  ·  ML on K8s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7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volcano.sh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56032" cy="237744"/>
          </a:xfrm>
          <a:prstGeom prst="triangle">
            <a:avLst/>
          </a:prstGeom>
          <a:solidFill>
            <a:srgbClr val="FF7B3A"/>
          </a:solidFill>
          <a:ln w="12700">
            <a:solidFill>
              <a:srgbClr val="FF7B3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VOLCANO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8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Kubernetes was built for long-running services.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Batch is a different beast.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7B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Volcano</a:t>
            </a:r>
            <a:r>
              <a:rPr lang="en-US" sz="1800" i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is the scheduler that fills the gap.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54864" cy="777240"/>
          </a:xfrm>
          <a:prstGeom prst="rect">
            <a:avLst/>
          </a:prstGeom>
          <a:solidFill>
            <a:srgbClr val="FF7B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/>
          <p:nvPr/>
        </p:nvSpPr>
        <p:spPr>
          <a:xfrm>
            <a:off x="530352" y="2953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3136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Gang scheduling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" y="3392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All-or-nothing pod groups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54864" cy="777240"/>
          </a:xfrm>
          <a:prstGeom prst="rect">
            <a:avLst/>
          </a:prstGeom>
          <a:solidFill>
            <a:srgbClr val="FF7B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/>
          <p:nvPr/>
        </p:nvSpPr>
        <p:spPr>
          <a:xfrm>
            <a:off x="4828032" y="2953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3136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Queues &amp; fair-share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28032" y="3392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Priority, preemption, hierarchy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54864" cy="777240"/>
          </a:xfrm>
          <a:prstGeom prst="rect">
            <a:avLst/>
          </a:prstGeom>
          <a:solidFill>
            <a:srgbClr val="FF7B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7"/>
          <p:cNvSpPr/>
          <p:nvPr/>
        </p:nvSpPr>
        <p:spPr>
          <a:xfrm>
            <a:off x="530352" y="3867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4050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Job CRD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" y="4306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Native batch semantics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7947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Shape 21"/>
          <p:cNvSpPr/>
          <p:nvPr/>
        </p:nvSpPr>
        <p:spPr>
          <a:xfrm>
            <a:off x="4663440" y="3794760"/>
            <a:ext cx="54864" cy="777240"/>
          </a:xfrm>
          <a:prstGeom prst="rect">
            <a:avLst/>
          </a:prstGeom>
          <a:solidFill>
            <a:srgbClr val="FF7B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Text 22"/>
          <p:cNvSpPr/>
          <p:nvPr/>
        </p:nvSpPr>
        <p:spPr>
          <a:xfrm>
            <a:off x="4828032" y="3867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8032" y="4050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Plugin scheduler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28032" y="4306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gang · drf · proportion · binpack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56032" cy="237744"/>
          </a:xfrm>
          <a:prstGeom prst="triangle">
            <a:avLst/>
          </a:prstGeom>
          <a:solidFill>
            <a:srgbClr val="FF7B3A"/>
          </a:solidFill>
          <a:ln w="12700">
            <a:solidFill>
              <a:srgbClr val="FF7B3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VOLCANO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8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73152" cy="3200400"/>
          </a:xfrm>
          <a:prstGeom prst="rect">
            <a:avLst/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640080" y="1444752"/>
            <a:ext cx="118872" cy="11887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841248" y="1444752"/>
            <a:ext cx="118872" cy="118872"/>
          </a:xfrm>
          <a:prstGeom prst="ellipse">
            <a:avLst/>
          </a:prstGeom>
          <a:solidFill>
            <a:srgbClr val="D299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Shape 7"/>
          <p:cNvSpPr/>
          <p:nvPr/>
        </p:nvSpPr>
        <p:spPr>
          <a:xfrm>
            <a:off x="1042416" y="1444752"/>
            <a:ext cx="118872" cy="1188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1371600" y="1399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vcjob.yaml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783080"/>
            <a:ext cx="7955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batch.volcano.sh/v1alpha1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quarterly-revenue-rebuild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minAvailable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6 executors up together, or none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schedulerName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volcano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gold-tier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replicas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spark-executor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spark:3.5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7B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Job</a:t>
            </a:r>
            <a:r>
              <a:rPr lang="en-US" sz="15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→  </a:t>
            </a:r>
            <a:r>
              <a:rPr lang="en-US" sz="1500" b="1" dirty="0">
                <a:solidFill>
                  <a:srgbClr val="FF7B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PodGroup</a:t>
            </a:r>
            <a:r>
              <a:rPr lang="en-US" sz="15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→  </a:t>
            </a:r>
            <a:r>
              <a:rPr lang="en-US" sz="15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executors scheduled together, or none.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56032" cy="237744"/>
          </a:xfrm>
          <a:prstGeom prst="triangle">
            <a:avLst/>
          </a:prstGeom>
          <a:solidFill>
            <a:srgbClr val="FF7B3A"/>
          </a:solidFill>
          <a:ln w="12700">
            <a:solidFill>
              <a:srgbClr val="FF7B3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VOLCANO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8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1508760"/>
            <a:ext cx="640080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Kubernetes API server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37360" y="2148840"/>
            <a:ext cx="0" cy="96012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 flipV="1">
            <a:off x="1664208" y="2980944"/>
            <a:ext cx="146304" cy="128016"/>
          </a:xfrm>
          <a:prstGeom prst="triangle">
            <a:avLst/>
          </a:prstGeom>
          <a:solidFill>
            <a:srgbClr val="3036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24688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246888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/>
          <p:nvPr/>
        </p:nvSpPr>
        <p:spPr>
          <a:xfrm>
            <a:off x="685800" y="32735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controller-manager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Job → PodGroup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lifecycle &amp; 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148840"/>
            <a:ext cx="0" cy="96012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 flipV="1">
            <a:off x="4498848" y="2980944"/>
            <a:ext cx="146304" cy="128016"/>
          </a:xfrm>
          <a:prstGeom prst="triangle">
            <a:avLst/>
          </a:prstGeom>
          <a:solidFill>
            <a:srgbClr val="3036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Shape 14"/>
          <p:cNvSpPr/>
          <p:nvPr/>
        </p:nvSpPr>
        <p:spPr>
          <a:xfrm>
            <a:off x="3337560" y="3108960"/>
            <a:ext cx="2468880" cy="1371600"/>
          </a:xfrm>
          <a:prstGeom prst="rect">
            <a:avLst/>
          </a:prstGeom>
          <a:solidFill>
            <a:srgbClr val="161B22"/>
          </a:solidFill>
          <a:ln w="22860">
            <a:solidFill>
              <a:srgbClr val="FF7B3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Shape 15"/>
          <p:cNvSpPr/>
          <p:nvPr/>
        </p:nvSpPr>
        <p:spPr>
          <a:xfrm>
            <a:off x="3337560" y="3108960"/>
            <a:ext cx="2468880" cy="54864"/>
          </a:xfrm>
          <a:prstGeom prst="rect">
            <a:avLst/>
          </a:prstGeom>
          <a:solidFill>
            <a:srgbClr val="FF7B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/>
          <p:nvPr/>
        </p:nvSpPr>
        <p:spPr>
          <a:xfrm>
            <a:off x="3520440" y="32735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7B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▲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86200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2044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gang · drf · proportion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binpack · preemption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0" y="2148840"/>
            <a:ext cx="0" cy="96012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  <p:txBody>
          <a:bodyPr/>
          <a:lstStyle/>
          <a:p>
            <a:endParaRPr lang="en-BR"/>
          </a:p>
        </p:txBody>
      </p:sp>
      <p:sp>
        <p:nvSpPr>
          <p:cNvPr id="22" name="Shape 20"/>
          <p:cNvSpPr/>
          <p:nvPr/>
        </p:nvSpPr>
        <p:spPr>
          <a:xfrm flipV="1">
            <a:off x="7333488" y="2980944"/>
            <a:ext cx="146304" cy="128016"/>
          </a:xfrm>
          <a:prstGeom prst="triangle">
            <a:avLst/>
          </a:prstGeom>
          <a:solidFill>
            <a:srgbClr val="3036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Shape 21"/>
          <p:cNvSpPr/>
          <p:nvPr/>
        </p:nvSpPr>
        <p:spPr>
          <a:xfrm>
            <a:off x="6172200" y="3108960"/>
            <a:ext cx="24688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Shape 22"/>
          <p:cNvSpPr/>
          <p:nvPr/>
        </p:nvSpPr>
        <p:spPr>
          <a:xfrm>
            <a:off x="6172200" y="3108960"/>
            <a:ext cx="246888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Text 23"/>
          <p:cNvSpPr/>
          <p:nvPr/>
        </p:nvSpPr>
        <p:spPr>
          <a:xfrm>
            <a:off x="6355080" y="32735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0840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webhook-manager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admission: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 + mutate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CRDs:  </a:t>
            </a:r>
            <a:r>
              <a:rPr lang="en-US" sz="1300" b="1" dirty="0">
                <a:solidFill>
                  <a:srgbClr val="FF7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</a:t>
            </a:r>
            <a:r>
              <a:rPr lang="en-US" sz="13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300" b="1" dirty="0">
                <a:solidFill>
                  <a:srgbClr val="FF7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3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300" b="1" dirty="0">
                <a:solidFill>
                  <a:srgbClr val="FF7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PodGroup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56032" cy="237744"/>
          </a:xfrm>
          <a:prstGeom prst="triangle">
            <a:avLst/>
          </a:prstGeom>
          <a:solidFill>
            <a:srgbClr val="FF7B3A"/>
          </a:solidFill>
          <a:ln w="12700">
            <a:solidFill>
              <a:srgbClr val="FF7B3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VOLCANO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8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Trade-offs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 </a:t>
            </a:r>
            <a:r>
              <a:rPr lang="en-US" sz="1300" b="1" kern="0" spc="400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Gang scheduling — no Spark/Flink deadlocks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queues, fair-share, preemption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Pluggable scheduler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Native: Spark · Flink · Ray · PyTorch · MPI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Production-grade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02336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02336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/>
          <p:nvPr/>
        </p:nvSpPr>
        <p:spPr>
          <a:xfrm>
            <a:off x="498348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99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  </a:t>
            </a:r>
            <a:r>
              <a:rPr lang="en-US" sz="1300" b="1" kern="0" spc="400" dirty="0">
                <a:solidFill>
                  <a:srgbClr val="D299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Extra CRDs, extra scheduler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Friction with cluster-autoscaler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Smaller community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Overkill for stateless services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HPA does not apply to vcjobs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7B3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7B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Worth it </a:t>
            </a:r>
            <a:r>
              <a:rPr lang="en-US" sz="15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you run Spark · Flink · Ray · ML on K8s.   </a:t>
            </a:r>
            <a:r>
              <a:rPr lang="en-US" sz="1500" i="1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Otherwise no.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56032" cy="237744"/>
          </a:xfrm>
          <a:prstGeom prst="triangle">
            <a:avLst/>
          </a:prstGeom>
          <a:solidFill>
            <a:srgbClr val="FF7B3A"/>
          </a:solidFill>
          <a:ln w="12700">
            <a:solidFill>
              <a:srgbClr val="FF7B3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VOLCANO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8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297680" y="1417320"/>
            <a:ext cx="1554480" cy="2834640"/>
          </a:xfrm>
          <a:prstGeom prst="rect">
            <a:avLst/>
          </a:prstGeom>
          <a:solidFill>
            <a:srgbClr val="1F2A3A"/>
          </a:solidFill>
          <a:ln w="19050">
            <a:solidFill>
              <a:srgbClr val="FF7B3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K8s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Volcano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Kueue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0664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YuniKorn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56232"/>
            <a:ext cx="84124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365760" y="1874520"/>
            <a:ext cx="23774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Gang scheduling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1874520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1874520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1874520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1874520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8412480" cy="0"/>
          </a:xfrm>
          <a:prstGeom prst="line">
            <a:avLst/>
          </a:prstGeom>
          <a:noFill/>
          <a:ln w="6350">
            <a:solidFill>
              <a:srgbClr val="30363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/>
          <p:nvPr/>
        </p:nvSpPr>
        <p:spPr>
          <a:xfrm>
            <a:off x="365760" y="2350008"/>
            <a:ext cx="23774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Hierarchical queues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2350008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2350008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2350008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2350008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825496"/>
            <a:ext cx="8412480" cy="0"/>
          </a:xfrm>
          <a:prstGeom prst="line">
            <a:avLst/>
          </a:prstGeom>
          <a:noFill/>
          <a:ln w="6350">
            <a:solidFill>
              <a:srgbClr val="30363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Text 22"/>
          <p:cNvSpPr/>
          <p:nvPr/>
        </p:nvSpPr>
        <p:spPr>
          <a:xfrm>
            <a:off x="365760" y="2825496"/>
            <a:ext cx="23774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DRF fair-share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2825496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0" y="2825496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2160" y="2825496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06640" y="2825496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300984"/>
            <a:ext cx="8412480" cy="0"/>
          </a:xfrm>
          <a:prstGeom prst="line">
            <a:avLst/>
          </a:prstGeom>
          <a:noFill/>
          <a:ln w="6350">
            <a:solidFill>
              <a:srgbClr val="30363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/>
          <p:nvPr/>
        </p:nvSpPr>
        <p:spPr>
          <a:xfrm>
            <a:off x="365760" y="3300984"/>
            <a:ext cx="23774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scheduler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3300984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97680" y="3300984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2160" y="3300984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 default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06640" y="3300984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3776472"/>
            <a:ext cx="8412480" cy="0"/>
          </a:xfrm>
          <a:prstGeom prst="line">
            <a:avLst/>
          </a:prstGeom>
          <a:noFill/>
          <a:ln w="6350">
            <a:solidFill>
              <a:srgbClr val="30363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Text 34"/>
          <p:cNvSpPr/>
          <p:nvPr/>
        </p:nvSpPr>
        <p:spPr>
          <a:xfrm>
            <a:off x="365760" y="3776472"/>
            <a:ext cx="23774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Best for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0" y="3776472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97680" y="3776472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Spark·Flink·ML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52160" y="3776472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queueing batch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3776472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Spark heritage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56032" cy="237744"/>
          </a:xfrm>
          <a:prstGeom prst="triangle">
            <a:avLst/>
          </a:prstGeom>
          <a:solidFill>
            <a:srgbClr val="FF7B3A"/>
          </a:solidFill>
          <a:ln w="12700">
            <a:solidFill>
              <a:srgbClr val="FF7B3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VOLCANO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0" y="914400"/>
            <a:ext cx="2926080" cy="3657600"/>
          </a:xfrm>
          <a:prstGeom prst="triangle">
            <a:avLst/>
          </a:prstGeom>
          <a:solidFill>
            <a:srgbClr val="FF7B3A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7B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Spark-style gang scheduling — live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cluster</a:t>
            </a:r>
            <a:r>
              <a:rPr lang="en-US" sz="13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workers</a:t>
            </a:r>
            <a:r>
              <a:rPr lang="en-US" sz="13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Volcano v1.10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411480" cy="4114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daily-orders-rollup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3383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executors  ·  fits  ·  all 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867912"/>
            <a:ext cx="411480" cy="41148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/>
          <p:nvPr/>
        </p:nvSpPr>
        <p:spPr>
          <a:xfrm>
            <a:off x="365760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8679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quarterly-revenue-rebuild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38679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30Gi gang vs 23Gi cluster  ·  all pending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352544"/>
            <a:ext cx="411480" cy="41148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/>
          <p:nvPr/>
        </p:nvSpPr>
        <p:spPr>
          <a:xfrm>
            <a:off x="365760" y="4352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3525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quarterly-revenue-naive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435254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85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ask without Volcano  ·  partial chaos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FAFD1-C19F-3CF4-ADCB-2181A8160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1C757B-CD58-8E50-05E3-706B608FD0F1}"/>
              </a:ext>
            </a:extLst>
          </p:cNvPr>
          <p:cNvSpPr/>
          <p:nvPr/>
        </p:nvSpPr>
        <p:spPr>
          <a:xfrm>
            <a:off x="6035040" y="1371600"/>
            <a:ext cx="2926080" cy="3200400"/>
          </a:xfrm>
          <a:prstGeom prst="triangle">
            <a:avLst/>
          </a:prstGeom>
          <a:solidFill>
            <a:srgbClr val="3D1F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E9370F-AD83-FF6D-FBED-6B2104FE686A}"/>
              </a:ext>
            </a:extLst>
          </p:cNvPr>
          <p:cNvSpPr/>
          <p:nvPr/>
        </p:nvSpPr>
        <p:spPr>
          <a:xfrm>
            <a:off x="6400800" y="1828800"/>
            <a:ext cx="2194560" cy="2743200"/>
          </a:xfrm>
          <a:prstGeom prst="triangle">
            <a:avLst/>
          </a:prstGeom>
          <a:solidFill>
            <a:srgbClr val="7A3A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80BFCE-9F3C-F5B7-A187-74AFE854CD09}"/>
              </a:ext>
            </a:extLst>
          </p:cNvPr>
          <p:cNvSpPr/>
          <p:nvPr/>
        </p:nvSpPr>
        <p:spPr>
          <a:xfrm>
            <a:off x="6766560" y="2286000"/>
            <a:ext cx="1463040" cy="2286000"/>
          </a:xfrm>
          <a:prstGeom prst="triangle">
            <a:avLst/>
          </a:prstGeom>
          <a:solidFill>
            <a:srgbClr val="FF7B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1808275-7159-053B-AAFD-641D56129BC1}"/>
              </a:ext>
            </a:extLst>
          </p:cNvPr>
          <p:cNvSpPr/>
          <p:nvPr/>
        </p:nvSpPr>
        <p:spPr>
          <a:xfrm>
            <a:off x="1" y="0"/>
            <a:ext cx="5852160" cy="5143501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4B348B5-668E-0596-9215-34A5E0641C61}"/>
              </a:ext>
            </a:extLst>
          </p:cNvPr>
          <p:cNvSpPr/>
          <p:nvPr/>
        </p:nvSpPr>
        <p:spPr>
          <a:xfrm>
            <a:off x="548640" y="15544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6F65CB-4B1E-0DA9-8235-664E5B70389B}"/>
              </a:ext>
            </a:extLst>
          </p:cNvPr>
          <p:cNvSpPr/>
          <p:nvPr/>
        </p:nvSpPr>
        <p:spPr>
          <a:xfrm>
            <a:off x="548640" y="3063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8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Guilherme Nogueira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3A3223C-8619-A9DF-DCCB-7770C4F418E1}"/>
              </a:ext>
            </a:extLst>
          </p:cNvPr>
          <p:cNvSpPr/>
          <p:nvPr/>
        </p:nvSpPr>
        <p:spPr>
          <a:xfrm>
            <a:off x="685800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7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volcano.sh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3679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386</Words>
  <Application>Microsoft Macintosh PowerPoint</Application>
  <PresentationFormat>On-screen Show (16:9)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Consolas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 — Kubernetes done right for batch</dc:title>
  <dc:subject>PptxGenJS Presentation</dc:subject>
  <dc:creator>Nogueira</dc:creator>
  <cp:lastModifiedBy>a4391</cp:lastModifiedBy>
  <cp:revision>3</cp:revision>
  <dcterms:created xsi:type="dcterms:W3CDTF">2026-04-29T02:34:30Z</dcterms:created>
  <dcterms:modified xsi:type="dcterms:W3CDTF">2026-04-29T20:26:08Z</dcterms:modified>
</cp:coreProperties>
</file>